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85800"/>
            <a:ext cx="10817352" cy="5486400"/>
          </a:xfrm>
          <a:prstGeom prst="roundRect">
            <a:avLst/>
          </a:prstGeom>
          <a:solidFill>
            <a:srgbClr val="1B263B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00E676"/>
                </a:solidFill>
                <a:latin typeface="Trebuchet MS"/>
              </a:defRPr>
            </a:pPr>
            <a:r>
              <a:t>AI-POWERED CAREER PATH RECOMMENDATION</a:t>
            </a:r>
          </a:p>
          <a:p>
            <a:pPr algn="l">
              <a:spcBef>
                <a:spcPts val="1000"/>
              </a:spcBef>
              <a:defRPr sz="1800">
                <a:solidFill>
                  <a:srgbClr val="F0F5FF"/>
                </a:solidFill>
                <a:latin typeface="Arial"/>
              </a:defRPr>
            </a:pPr>
            <a:r>
              <a:t>CareerCraft: Your Ultimate Career Compass &amp; B2B Recruitment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9184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E676"/>
                </a:solidFill>
                <a:latin typeface="Arial"/>
              </a:defRPr>
            </a:pPr>
            <a:r>
              <a:t>Submitted By:</a:t>
            </a:r>
          </a:p>
          <a:p>
            <a:pPr>
              <a:spcBef>
                <a:spcPts val="500"/>
              </a:spcBef>
              <a:defRPr sz="1600" b="1">
                <a:solidFill>
                  <a:srgbClr val="F0F5FF"/>
                </a:solidFill>
                <a:latin typeface="Arial"/>
              </a:defRPr>
            </a:pPr>
            <a:r>
              <a:t>HARISHGANTH.L</a:t>
            </a:r>
            <a:br/>
            <a:r>
              <a:t>Reg No: 720823103057</a:t>
            </a:r>
            <a:br/>
            <a:r>
              <a:t>Final Year, BE-CSE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32918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E676"/>
                </a:solidFill>
                <a:latin typeface="Arial"/>
              </a:defRPr>
            </a:pPr>
            <a:r>
              <a:t>Project Guide:</a:t>
            </a:r>
          </a:p>
          <a:p>
            <a:pPr>
              <a:spcBef>
                <a:spcPts val="500"/>
              </a:spcBef>
              <a:defRPr sz="1600">
                <a:solidFill>
                  <a:srgbClr val="F0F5FF"/>
                </a:solidFill>
                <a:latin typeface="Arial"/>
              </a:defRPr>
            </a:pPr>
            <a:r>
              <a:t>Mrs. VIDHYA.V</a:t>
            </a:r>
            <a:br/>
            <a:r>
              <a:t>Assistant Professor, Dept of CSE</a:t>
            </a:r>
          </a:p>
          <a:p>
            <a:br/>
            <a:pPr>
              <a:defRPr sz="1400" b="1">
                <a:solidFill>
                  <a:srgbClr val="F0F5FF"/>
                </a:solidFill>
                <a:latin typeface="Arial"/>
              </a:defRPr>
            </a:pPr>
            <a:r>
              <a:t>HINDUSTAN INSTITUTE OF TECHNOLOGY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0E676"/>
                </a:solidFill>
                <a:latin typeface="Trebuchet MS"/>
              </a:defRPr>
            </a:pPr>
            <a:r>
              <a:t>Introduction &amp; Problem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34440"/>
            <a:ext cx="2743200" cy="36576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B4BED2"/>
                </a:solidFill>
                <a:latin typeface="Arial"/>
              </a:defRPr>
            </a:pPr>
            <a:r>
              <a:t>AI-Powered Career Path Recommendation (CareerCraft) | BE-CSE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459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0E676"/>
                </a:solidFill>
                <a:latin typeface="Arial"/>
              </a:defRPr>
            </a:pPr>
            <a:r>
              <a:t>Introduction</a:t>
            </a:r>
          </a:p>
          <a:p>
            <a:pPr>
              <a:spcBef>
                <a:spcPts val="1200"/>
              </a:spcBef>
              <a:defRPr sz="1500">
                <a:solidFill>
                  <a:srgbClr val="F0F5FF"/>
                </a:solidFill>
                <a:latin typeface="Arial"/>
              </a:defRPr>
            </a:pPr>
            <a:r>
              <a:t>• CareerCraft is an AI-powered 'Super App' designed for career exploration and B2B recruitment.</a:t>
            </a:r>
          </a:p>
          <a:p>
            <a:pPr>
              <a:spcBef>
                <a:spcPts val="1200"/>
              </a:spcBef>
              <a:defRPr sz="1500">
                <a:solidFill>
                  <a:srgbClr val="F0F5FF"/>
                </a:solidFill>
                <a:latin typeface="Arial"/>
              </a:defRPr>
            </a:pPr>
            <a:r>
              <a:t>• Integrates dynamic machine learning guidance with resume analysis, interview coaching, and project suggestions.</a:t>
            </a:r>
          </a:p>
          <a:p>
            <a:pPr>
              <a:spcBef>
                <a:spcPts val="1200"/>
              </a:spcBef>
              <a:defRPr sz="1500">
                <a:solidFill>
                  <a:srgbClr val="F0F5FF"/>
                </a:solidFill>
                <a:latin typeface="Arial"/>
              </a:defRPr>
            </a:pPr>
            <a:r>
              <a:t>• Acts as a comprehensive roadmap for graduating students to achieve industry readiness.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6459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0E676"/>
                </a:solidFill>
                <a:latin typeface="Arial"/>
              </a:defRPr>
            </a:pPr>
            <a:r>
              <a:t>Problem Statement</a:t>
            </a:r>
          </a:p>
          <a:p>
            <a:pPr>
              <a:spcBef>
                <a:spcPts val="1200"/>
              </a:spcBef>
              <a:defRPr sz="1500">
                <a:solidFill>
                  <a:srgbClr val="F0F5FF"/>
                </a:solidFill>
                <a:latin typeface="Arial"/>
              </a:defRPr>
            </a:pPr>
            <a:r>
              <a:t>• Students face massive confusion choosing structured career roadmaps (Full Stack, Data Science, Cyber).</a:t>
            </a:r>
          </a:p>
          <a:p>
            <a:pPr>
              <a:spcBef>
                <a:spcPts val="1200"/>
              </a:spcBef>
              <a:defRPr sz="1500">
                <a:solidFill>
                  <a:srgbClr val="F0F5FF"/>
                </a:solidFill>
                <a:latin typeface="Arial"/>
              </a:defRPr>
            </a:pPr>
            <a:r>
              <a:t>• Standard resumes lack ATS-friendliness, leading to high rejection rates.</a:t>
            </a:r>
          </a:p>
          <a:p>
            <a:pPr>
              <a:spcBef>
                <a:spcPts val="1200"/>
              </a:spcBef>
              <a:defRPr sz="1500">
                <a:solidFill>
                  <a:srgbClr val="F0F5FF"/>
                </a:solidFill>
                <a:latin typeface="Arial"/>
              </a:defRPr>
            </a:pPr>
            <a:r>
              <a:t>• Lack of realistic, feedback-oriented technical mock interview practice.</a:t>
            </a:r>
          </a:p>
          <a:p>
            <a:pPr>
              <a:spcBef>
                <a:spcPts val="1200"/>
              </a:spcBef>
              <a:defRPr sz="1500">
                <a:solidFill>
                  <a:srgbClr val="F0F5FF"/>
                </a:solidFill>
                <a:latin typeface="Arial"/>
              </a:defRPr>
            </a:pPr>
            <a:r>
              <a:t>• Recruiters struggle to efficiently screen, find, and match candidates who completed verified learning milestones.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0E676"/>
                </a:solidFill>
                <a:latin typeface="Trebuchet MS"/>
              </a:defRPr>
            </a:pPr>
            <a:r>
              <a:t>System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34440"/>
            <a:ext cx="2743200" cy="36576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B4BED2"/>
                </a:solidFill>
                <a:latin typeface="Arial"/>
              </a:defRPr>
            </a:pPr>
            <a:r>
              <a:t>AI-Powered Career Path Recommendation (CareerCraft) | BE-CSE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45920"/>
            <a:ext cx="10817352" cy="4389120"/>
          </a:xfrm>
          <a:prstGeom prst="roundRect">
            <a:avLst/>
          </a:prstGeom>
          <a:solidFill>
            <a:srgbClr val="1B263B"/>
          </a:solidFill>
          <a:ln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E676"/>
                </a:solidFill>
                <a:latin typeface="Arial"/>
              </a:defRPr>
            </a:pPr>
            <a:r>
              <a:t>1. Frontend (React 19)</a:t>
            </a:r>
          </a:p>
          <a:p>
            <a:pPr>
              <a:spcBef>
                <a:spcPts val="800"/>
              </a:spcBef>
              <a:defRPr sz="1400">
                <a:solidFill>
                  <a:srgbClr val="F0F5FF"/>
                </a:solidFill>
                <a:latin typeface="Arial"/>
              </a:defRPr>
            </a:pPr>
            <a:r>
              <a:t>⚡ Vite-powered Single Page App</a:t>
            </a:r>
          </a:p>
          <a:p>
            <a:pPr>
              <a:spcBef>
                <a:spcPts val="800"/>
              </a:spcBef>
              <a:defRPr sz="1400">
                <a:solidFill>
                  <a:srgbClr val="F0F5FF"/>
                </a:solidFill>
                <a:latin typeface="Arial"/>
              </a:defRPr>
            </a:pPr>
            <a:r>
              <a:t>⚡ Neon Glassmorphism Clean UI</a:t>
            </a:r>
          </a:p>
          <a:p>
            <a:pPr>
              <a:spcBef>
                <a:spcPts val="800"/>
              </a:spcBef>
              <a:defRPr sz="1400">
                <a:solidFill>
                  <a:srgbClr val="F0F5FF"/>
                </a:solidFill>
                <a:latin typeface="Arial"/>
              </a:defRPr>
            </a:pPr>
            <a:r>
              <a:t>⚡ React Router 7 Navigation</a:t>
            </a:r>
          </a:p>
          <a:p>
            <a:pPr>
              <a:spcBef>
                <a:spcPts val="800"/>
              </a:spcBef>
              <a:defRPr sz="1400">
                <a:solidFill>
                  <a:srgbClr val="F0F5FF"/>
                </a:solidFill>
                <a:latin typeface="Arial"/>
              </a:defRPr>
            </a:pPr>
            <a:r>
              <a:t>⚡ Custom vanilla CSS layouts</a:t>
            </a:r>
          </a:p>
          <a:p>
            <a:pPr>
              <a:spcBef>
                <a:spcPts val="800"/>
              </a:spcBef>
              <a:defRPr sz="1400">
                <a:solidFill>
                  <a:srgbClr val="F0F5FF"/>
                </a:solidFill>
                <a:latin typeface="Arial"/>
              </a:defRPr>
            </a:pPr>
            <a:r>
              <a:t>⚡ Responsive Mobile-friendly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0116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E676"/>
                </a:solidFill>
                <a:latin typeface="Arial"/>
              </a:defRPr>
            </a:pPr>
            <a:r>
              <a:t>2. Backend (Node &amp; Express)</a:t>
            </a:r>
          </a:p>
          <a:p>
            <a:pPr>
              <a:spcBef>
                <a:spcPts val="800"/>
              </a:spcBef>
              <a:defRPr sz="1400">
                <a:solidFill>
                  <a:srgbClr val="F0F5FF"/>
                </a:solidFill>
                <a:latin typeface="Arial"/>
              </a:defRPr>
            </a:pPr>
            <a:r>
              <a:t>⚙️ RESTful API endpoints</a:t>
            </a:r>
          </a:p>
          <a:p>
            <a:pPr>
              <a:spcBef>
                <a:spcPts val="800"/>
              </a:spcBef>
              <a:defRPr sz="1400">
                <a:solidFill>
                  <a:srgbClr val="F0F5FF"/>
                </a:solidFill>
                <a:latin typeface="Arial"/>
              </a:defRPr>
            </a:pPr>
            <a:r>
              <a:t>⚙️ MongoDB schemas &amp; models</a:t>
            </a:r>
          </a:p>
          <a:p>
            <a:pPr>
              <a:spcBef>
                <a:spcPts val="800"/>
              </a:spcBef>
              <a:defRPr sz="1400">
                <a:solidFill>
                  <a:srgbClr val="F0F5FF"/>
                </a:solidFill>
                <a:latin typeface="Arial"/>
              </a:defRPr>
            </a:pPr>
            <a:r>
              <a:t>⚙️ JWT Session Authentication</a:t>
            </a:r>
          </a:p>
          <a:p>
            <a:pPr>
              <a:spcBef>
                <a:spcPts val="800"/>
              </a:spcBef>
              <a:defRPr sz="1400">
                <a:solidFill>
                  <a:srgbClr val="F0F5FF"/>
                </a:solidFill>
                <a:latin typeface="Arial"/>
              </a:defRPr>
            </a:pPr>
            <a:r>
              <a:t>⚙️ Secured environment keys</a:t>
            </a:r>
          </a:p>
          <a:p>
            <a:pPr>
              <a:spcBef>
                <a:spcPts val="800"/>
              </a:spcBef>
              <a:defRPr sz="1400">
                <a:solidFill>
                  <a:srgbClr val="F0F5FF"/>
                </a:solidFill>
                <a:latin typeface="Arial"/>
              </a:defRPr>
            </a:pPr>
            <a:r>
              <a:t>⚙️ Error-handling controllers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2011680"/>
            <a:ext cx="2926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E676"/>
                </a:solidFill>
                <a:latin typeface="Arial"/>
              </a:defRPr>
            </a:pPr>
            <a:r>
              <a:t>3. AI Engine &amp; Database</a:t>
            </a:r>
          </a:p>
          <a:p>
            <a:pPr>
              <a:spcBef>
                <a:spcPts val="800"/>
              </a:spcBef>
              <a:defRPr sz="1400">
                <a:solidFill>
                  <a:srgbClr val="F0F5FF"/>
                </a:solidFill>
                <a:latin typeface="Arial"/>
              </a:defRPr>
            </a:pPr>
            <a:r>
              <a:t>🧠 Google Gemini API integration</a:t>
            </a:r>
          </a:p>
          <a:p>
            <a:pPr>
              <a:spcBef>
                <a:spcPts val="800"/>
              </a:spcBef>
              <a:defRPr sz="1400">
                <a:solidFill>
                  <a:srgbClr val="F0F5FF"/>
                </a:solidFill>
                <a:latin typeface="Arial"/>
              </a:defRPr>
            </a:pPr>
            <a:r>
              <a:t>🧠 Dynamic prompt engineers</a:t>
            </a:r>
          </a:p>
          <a:p>
            <a:pPr>
              <a:spcBef>
                <a:spcPts val="800"/>
              </a:spcBef>
              <a:defRPr sz="1400">
                <a:solidFill>
                  <a:srgbClr val="F0F5FF"/>
                </a:solidFill>
                <a:latin typeface="Arial"/>
              </a:defRPr>
            </a:pPr>
            <a:r>
              <a:t>🧠 MongoDB Atlas cloud storage</a:t>
            </a:r>
          </a:p>
          <a:p>
            <a:pPr>
              <a:spcBef>
                <a:spcPts val="800"/>
              </a:spcBef>
              <a:defRPr sz="1400">
                <a:solidFill>
                  <a:srgbClr val="F0F5FF"/>
                </a:solidFill>
                <a:latin typeface="Arial"/>
              </a:defRPr>
            </a:pPr>
            <a:r>
              <a:t>🧠 Resume JSON parsing</a:t>
            </a:r>
          </a:p>
          <a:p>
            <a:pPr>
              <a:spcBef>
                <a:spcPts val="800"/>
              </a:spcBef>
              <a:defRPr sz="1400">
                <a:solidFill>
                  <a:srgbClr val="F0F5FF"/>
                </a:solidFill>
                <a:latin typeface="Arial"/>
              </a:defRPr>
            </a:pPr>
            <a:r>
              <a:t>🧠 Auto-portfolio generator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0E676"/>
                </a:solidFill>
                <a:latin typeface="Trebuchet MS"/>
              </a:defRPr>
            </a:pPr>
            <a:r>
              <a:t>Core Features - Candidate Portal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34440"/>
            <a:ext cx="2743200" cy="36576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B4BED2"/>
                </a:solidFill>
                <a:latin typeface="Arial"/>
              </a:defRPr>
            </a:pPr>
            <a:r>
              <a:t>AI-Powered Career Path Recommendation (CareerCraft) | BE-CSE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45920"/>
            <a:ext cx="5212080" cy="2011680"/>
          </a:xfrm>
          <a:prstGeom prst="roundRect">
            <a:avLst/>
          </a:prstGeom>
          <a:solidFill>
            <a:srgbClr val="1B263B"/>
          </a:solidFill>
          <a:ln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783080"/>
            <a:ext cx="48463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E676"/>
                </a:solidFill>
                <a:latin typeface="Arial"/>
              </a:defRPr>
            </a:pPr>
            <a:r>
              <a:t>🧠 AI Career Assessment</a:t>
            </a:r>
          </a:p>
          <a:p>
            <a:pPr>
              <a:spcBef>
                <a:spcPts val="800"/>
              </a:spcBef>
              <a:defRPr sz="1400">
                <a:solidFill>
                  <a:srgbClr val="F0F5FF"/>
                </a:solidFill>
                <a:latin typeface="Arial"/>
              </a:defRPr>
            </a:pPr>
            <a:r>
              <a:t>Get customized career suggestions by chatting with an AI Career Advisor that analyzes your interests.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2011680"/>
          </a:xfrm>
          <a:prstGeom prst="roundRect">
            <a:avLst/>
          </a:prstGeom>
          <a:solidFill>
            <a:srgbClr val="1B263B"/>
          </a:solidFill>
          <a:ln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48463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E676"/>
                </a:solidFill>
                <a:latin typeface="Arial"/>
              </a:defRPr>
            </a:pPr>
            <a:r>
              <a:t>🗺️ Job &amp; Skill Roadmaps</a:t>
            </a:r>
          </a:p>
          <a:p>
            <a:pPr>
              <a:spcBef>
                <a:spcPts val="800"/>
              </a:spcBef>
              <a:defRPr sz="1400">
                <a:solidFill>
                  <a:srgbClr val="F0F5FF"/>
                </a:solidFill>
                <a:latin typeface="Arial"/>
              </a:defRPr>
            </a:pPr>
            <a:r>
              <a:t>Access highly organized step-by-step visual roadmaps for CSE domains like Full Stack, AI, Cyber.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931920"/>
            <a:ext cx="5212080" cy="2011680"/>
          </a:xfrm>
          <a:prstGeom prst="roundRect">
            <a:avLst/>
          </a:prstGeom>
          <a:solidFill>
            <a:srgbClr val="1B263B"/>
          </a:solidFill>
          <a:ln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069080"/>
            <a:ext cx="48463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E676"/>
                </a:solidFill>
                <a:latin typeface="Arial"/>
              </a:defRPr>
            </a:pPr>
            <a:r>
              <a:t>📄 Resume &amp; Portfolio Builder</a:t>
            </a:r>
          </a:p>
          <a:p>
            <a:pPr>
              <a:spcBef>
                <a:spcPts val="800"/>
              </a:spcBef>
              <a:defRPr sz="1400">
                <a:solidFill>
                  <a:srgbClr val="F0F5FF"/>
                </a:solidFill>
                <a:latin typeface="Arial"/>
              </a:defRPr>
            </a:pPr>
            <a:r>
              <a:t>One-click dynamic ATS resume PDF creation and automated live developer portfolio site generation.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31920"/>
            <a:ext cx="5212080" cy="2011680"/>
          </a:xfrm>
          <a:prstGeom prst="roundRect">
            <a:avLst/>
          </a:prstGeom>
          <a:solidFill>
            <a:srgbClr val="1B263B"/>
          </a:solidFill>
          <a:ln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4069080"/>
            <a:ext cx="48463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E676"/>
                </a:solidFill>
                <a:latin typeface="Arial"/>
              </a:defRPr>
            </a:pPr>
            <a:r>
              <a:t>🎤 Mock Interview &amp; Code Analyzer</a:t>
            </a:r>
          </a:p>
          <a:p>
            <a:pPr>
              <a:spcBef>
                <a:spcPts val="800"/>
              </a:spcBef>
              <a:defRPr sz="1400">
                <a:solidFill>
                  <a:srgbClr val="F0F5FF"/>
                </a:solidFill>
                <a:latin typeface="Arial"/>
              </a:defRPr>
            </a:pPr>
            <a:r>
              <a:t>Experience AI mock interviews with direct grading and use GitHub analyzer to suggest project improvements.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0E676"/>
                </a:solidFill>
                <a:latin typeface="Trebuchet MS"/>
              </a:defRPr>
            </a:pPr>
            <a:r>
              <a:t>B2B Recruiter Portal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34440"/>
            <a:ext cx="2743200" cy="36576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B4BED2"/>
                </a:solidFill>
                <a:latin typeface="Arial"/>
              </a:defRPr>
            </a:pPr>
            <a:r>
              <a:t>AI-Powered Career Path Recommendation (CareerCraft) | BE-CSE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45920"/>
            <a:ext cx="51206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0E676"/>
                </a:solidFill>
                <a:latin typeface="Arial"/>
              </a:defRPr>
            </a:pPr>
            <a:r>
              <a:t>Recruiter Operations</a:t>
            </a:r>
          </a:p>
          <a:p>
            <a:pPr>
              <a:spcBef>
                <a:spcPts val="1400"/>
              </a:spcBef>
              <a:defRPr sz="1400">
                <a:solidFill>
                  <a:srgbClr val="F0F5FF"/>
                </a:solidFill>
                <a:latin typeface="Arial"/>
              </a:defRPr>
            </a:pPr>
            <a:r>
              <a:t>💡 Smart Candidate Matchmaking: Auto-matches students who have high roadmap completion levels or test scores.</a:t>
            </a:r>
          </a:p>
          <a:p>
            <a:pPr>
              <a:spcBef>
                <a:spcPts val="1400"/>
              </a:spcBef>
              <a:defRPr sz="1400">
                <a:solidFill>
                  <a:srgbClr val="F0F5FF"/>
                </a:solidFill>
                <a:latin typeface="Arial"/>
              </a:defRPr>
            </a:pPr>
            <a:r>
              <a:t>📊 Dynamic HR Analytics Dashboard: Detailed progress statistics, scores, skill sets, and interview grades.</a:t>
            </a:r>
          </a:p>
          <a:p>
            <a:pPr>
              <a:spcBef>
                <a:spcPts val="1400"/>
              </a:spcBef>
              <a:defRPr sz="1400">
                <a:solidFill>
                  <a:srgbClr val="F0F5FF"/>
                </a:solidFill>
                <a:latin typeface="Arial"/>
              </a:defRPr>
            </a:pPr>
            <a:r>
              <a:t>🔍 Single-view Student Dossier: Detailed access to AI-analyzed candidate code quality, resume, and portfolio link.</a:t>
            </a:r>
          </a:p>
          <a:p>
            <a:pPr>
              <a:spcBef>
                <a:spcPts val="1400"/>
              </a:spcBef>
              <a:defRPr sz="1400">
                <a:solidFill>
                  <a:srgbClr val="F0F5FF"/>
                </a:solidFill>
                <a:latin typeface="Arial"/>
              </a:defRPr>
            </a:pPr>
            <a:r>
              <a:t>🎯 Verified Candidate Selection: Minimizes screening times by 80% using pre-screened technical benchmarks.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114800"/>
          </a:xfrm>
          <a:prstGeom prst="roundRect">
            <a:avLst/>
          </a:prstGeom>
          <a:solidFill>
            <a:srgbClr val="1B263B"/>
          </a:solidFill>
          <a:ln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920240"/>
            <a:ext cx="4663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E676"/>
                </a:solidFill>
                <a:latin typeface="Arial"/>
              </a:defRPr>
            </a:pPr>
            <a:r>
              <a:t>HR System Core Metrics</a:t>
            </a:r>
          </a:p>
          <a:p>
            <a:pPr>
              <a:spcBef>
                <a:spcPts val="1200"/>
              </a:spcBef>
              <a:defRPr sz="1400">
                <a:solidFill>
                  <a:srgbClr val="F0F5FF"/>
                </a:solidFill>
                <a:latin typeface="Arial"/>
              </a:defRPr>
            </a:pPr>
            <a:r>
              <a:t>⌛ Time-to-Hire Reduction: Cut from 20 days to 3 days</a:t>
            </a:r>
          </a:p>
          <a:p>
            <a:pPr>
              <a:spcBef>
                <a:spcPts val="1200"/>
              </a:spcBef>
              <a:defRPr sz="1400">
                <a:solidFill>
                  <a:srgbClr val="F0F5FF"/>
                </a:solidFill>
                <a:latin typeface="Arial"/>
              </a:defRPr>
            </a:pPr>
            <a:r>
              <a:t>🎯 Profile Matching Accuracy: Up to 92% match index</a:t>
            </a:r>
          </a:p>
          <a:p>
            <a:pPr>
              <a:spcBef>
                <a:spcPts val="1200"/>
              </a:spcBef>
              <a:defRPr sz="1400">
                <a:solidFill>
                  <a:srgbClr val="F0F5FF"/>
                </a:solidFill>
                <a:latin typeface="Arial"/>
              </a:defRPr>
            </a:pPr>
            <a:r>
              <a:t>🌟 Skills-First Hiring: Verified roadmap milestone achievements</a:t>
            </a:r>
          </a:p>
          <a:p>
            <a:pPr>
              <a:spcBef>
                <a:spcPts val="1200"/>
              </a:spcBef>
              <a:defRPr sz="1400">
                <a:solidFill>
                  <a:srgbClr val="F0F5FF"/>
                </a:solidFill>
                <a:latin typeface="Arial"/>
              </a:defRPr>
            </a:pPr>
            <a:r>
              <a:t>🔒 Seamless Integration: HR Dashboard fully synced with candidate database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0E676"/>
                </a:solidFill>
                <a:latin typeface="Trebuchet MS"/>
              </a:defRPr>
            </a:pPr>
            <a:r>
              <a:t>Technology Stack &amp; Core API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34440"/>
            <a:ext cx="2743200" cy="36576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B4BED2"/>
                </a:solidFill>
                <a:latin typeface="Arial"/>
              </a:defRPr>
            </a:pPr>
            <a:r>
              <a:t>AI-Powered Career Path Recommendation (CareerCraft) | BE-CSE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45920"/>
            <a:ext cx="3383280" cy="4114800"/>
          </a:xfrm>
          <a:prstGeom prst="roundRect">
            <a:avLst/>
          </a:prstGeom>
          <a:solidFill>
            <a:srgbClr val="1B263B"/>
          </a:solidFill>
          <a:ln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3108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E676"/>
                </a:solidFill>
                <a:latin typeface="Arial"/>
              </a:defRPr>
            </a:pPr>
            <a:r>
              <a:t>FRONTEND TECH</a:t>
            </a:r>
          </a:p>
          <a:p>
            <a:pPr>
              <a:spcBef>
                <a:spcPts val="1000"/>
              </a:spcBef>
              <a:defRPr sz="1300">
                <a:solidFill>
                  <a:srgbClr val="F0F5FF"/>
                </a:solidFill>
                <a:latin typeface="Arial"/>
              </a:defRPr>
            </a:pPr>
            <a:r>
              <a:t>✔ React 19 Core Framework</a:t>
            </a:r>
          </a:p>
          <a:p>
            <a:pPr>
              <a:spcBef>
                <a:spcPts val="1000"/>
              </a:spcBef>
              <a:defRPr sz="1300">
                <a:solidFill>
                  <a:srgbClr val="F0F5FF"/>
                </a:solidFill>
                <a:latin typeface="Arial"/>
              </a:defRPr>
            </a:pPr>
            <a:r>
              <a:t>✔ Vite 7 (Ultra-fast bundler)</a:t>
            </a:r>
          </a:p>
          <a:p>
            <a:pPr>
              <a:spcBef>
                <a:spcPts val="1000"/>
              </a:spcBef>
              <a:defRPr sz="1300">
                <a:solidFill>
                  <a:srgbClr val="F0F5FF"/>
                </a:solidFill>
                <a:latin typeface="Arial"/>
              </a:defRPr>
            </a:pPr>
            <a:r>
              <a:t>✔ React Router 7 (Layout &amp; Routes)</a:t>
            </a:r>
          </a:p>
          <a:p>
            <a:pPr>
              <a:spcBef>
                <a:spcPts val="1000"/>
              </a:spcBef>
              <a:defRPr sz="1300">
                <a:solidFill>
                  <a:srgbClr val="F0F5FF"/>
                </a:solidFill>
                <a:latin typeface="Arial"/>
              </a:defRPr>
            </a:pPr>
            <a:r>
              <a:t>✔ Vanilla CSS (Neon Glassmorphism)</a:t>
            </a:r>
          </a:p>
          <a:p>
            <a:pPr>
              <a:spcBef>
                <a:spcPts val="1000"/>
              </a:spcBef>
              <a:defRPr sz="1300">
                <a:solidFill>
                  <a:srgbClr val="F0F5FF"/>
                </a:solidFill>
                <a:latin typeface="Arial"/>
              </a:defRPr>
            </a:pPr>
            <a:r>
              <a:t>✔ TailwindCSS (Responsive utility)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645920"/>
            <a:ext cx="3383280" cy="4114800"/>
          </a:xfrm>
          <a:prstGeom prst="roundRect">
            <a:avLst/>
          </a:prstGeom>
          <a:solidFill>
            <a:srgbClr val="1B263B"/>
          </a:solidFill>
          <a:ln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828800"/>
            <a:ext cx="3108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E676"/>
                </a:solidFill>
                <a:latin typeface="Arial"/>
              </a:defRPr>
            </a:pPr>
            <a:r>
              <a:t>BACKEND SERVICE</a:t>
            </a:r>
          </a:p>
          <a:p>
            <a:pPr>
              <a:spcBef>
                <a:spcPts val="1000"/>
              </a:spcBef>
              <a:defRPr sz="1300">
                <a:solidFill>
                  <a:srgbClr val="F0F5FF"/>
                </a:solidFill>
                <a:latin typeface="Arial"/>
              </a:defRPr>
            </a:pPr>
            <a:r>
              <a:t>✔ Node.js (LTS v18+)</a:t>
            </a:r>
          </a:p>
          <a:p>
            <a:pPr>
              <a:spcBef>
                <a:spcPts val="1000"/>
              </a:spcBef>
              <a:defRPr sz="1300">
                <a:solidFill>
                  <a:srgbClr val="F0F5FF"/>
                </a:solidFill>
                <a:latin typeface="Arial"/>
              </a:defRPr>
            </a:pPr>
            <a:r>
              <a:t>✔ Express.js Framework</a:t>
            </a:r>
          </a:p>
          <a:p>
            <a:pPr>
              <a:spcBef>
                <a:spcPts val="1000"/>
              </a:spcBef>
              <a:defRPr sz="1300">
                <a:solidFill>
                  <a:srgbClr val="F0F5FF"/>
                </a:solidFill>
                <a:latin typeface="Arial"/>
              </a:defRPr>
            </a:pPr>
            <a:r>
              <a:t>✔ JWT (Authentication)</a:t>
            </a:r>
          </a:p>
          <a:p>
            <a:pPr>
              <a:spcBef>
                <a:spcPts val="1000"/>
              </a:spcBef>
              <a:defRPr sz="1300">
                <a:solidFill>
                  <a:srgbClr val="F0F5FF"/>
                </a:solidFill>
                <a:latin typeface="Arial"/>
              </a:defRPr>
            </a:pPr>
            <a:r>
              <a:t>✔ Bcrypt (Password hash protection)</a:t>
            </a:r>
          </a:p>
          <a:p>
            <a:pPr>
              <a:spcBef>
                <a:spcPts val="1000"/>
              </a:spcBef>
              <a:defRPr sz="1300">
                <a:solidFill>
                  <a:srgbClr val="F0F5FF"/>
                </a:solidFill>
                <a:latin typeface="Arial"/>
              </a:defRPr>
            </a:pPr>
            <a:r>
              <a:t>✔ RESTful API routes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645920"/>
            <a:ext cx="3383280" cy="4114800"/>
          </a:xfrm>
          <a:prstGeom prst="roundRect">
            <a:avLst/>
          </a:prstGeom>
          <a:solidFill>
            <a:srgbClr val="1B263B"/>
          </a:solidFill>
          <a:ln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828800"/>
            <a:ext cx="3108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E676"/>
                </a:solidFill>
                <a:latin typeface="Arial"/>
              </a:defRPr>
            </a:pPr>
            <a:r>
              <a:t>DATABASE &amp; AI</a:t>
            </a:r>
          </a:p>
          <a:p>
            <a:pPr>
              <a:spcBef>
                <a:spcPts val="1000"/>
              </a:spcBef>
              <a:defRPr sz="1300">
                <a:solidFill>
                  <a:srgbClr val="F0F5FF"/>
                </a:solidFill>
                <a:latin typeface="Arial"/>
              </a:defRPr>
            </a:pPr>
            <a:r>
              <a:t>✔ MongoDB Atlas (Cloud NoSQL)</a:t>
            </a:r>
          </a:p>
          <a:p>
            <a:pPr>
              <a:spcBef>
                <a:spcPts val="1000"/>
              </a:spcBef>
              <a:defRPr sz="1300">
                <a:solidFill>
                  <a:srgbClr val="F0F5FF"/>
                </a:solidFill>
                <a:latin typeface="Arial"/>
              </a:defRPr>
            </a:pPr>
            <a:r>
              <a:t>✔ Mongoose (ODM Layer)</a:t>
            </a:r>
          </a:p>
          <a:p>
            <a:pPr>
              <a:spcBef>
                <a:spcPts val="1000"/>
              </a:spcBef>
              <a:defRPr sz="1300">
                <a:solidFill>
                  <a:srgbClr val="F0F5FF"/>
                </a:solidFill>
                <a:latin typeface="Arial"/>
              </a:defRPr>
            </a:pPr>
            <a:r>
              <a:t>✔ Google Gemini API Integration</a:t>
            </a:r>
          </a:p>
          <a:p>
            <a:pPr>
              <a:spcBef>
                <a:spcPts val="1000"/>
              </a:spcBef>
              <a:defRPr sz="1300">
                <a:solidFill>
                  <a:srgbClr val="F0F5FF"/>
                </a:solidFill>
                <a:latin typeface="Arial"/>
              </a:defRPr>
            </a:pPr>
            <a:r>
              <a:t>✔ OpenAI (Fallback Service)</a:t>
            </a:r>
          </a:p>
          <a:p>
            <a:pPr>
              <a:spcBef>
                <a:spcPts val="1000"/>
              </a:spcBef>
              <a:defRPr sz="1300">
                <a:solidFill>
                  <a:srgbClr val="F0F5FF"/>
                </a:solidFill>
                <a:latin typeface="Arial"/>
              </a:defRPr>
            </a:pPr>
            <a:r>
              <a:t>✔ ATS PDF Parser engine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0E676"/>
                </a:solidFill>
                <a:latin typeface="Trebuchet MS"/>
              </a:defRPr>
            </a:pPr>
            <a:r>
              <a:t>MongoDB Data 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34440"/>
            <a:ext cx="2743200" cy="36576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B4BED2"/>
                </a:solidFill>
                <a:latin typeface="Arial"/>
              </a:defRPr>
            </a:pPr>
            <a:r>
              <a:t>AI-Powered Career Path Recommendation (CareerCraft) | BE-CSE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45920"/>
            <a:ext cx="5120640" cy="4206240"/>
          </a:xfrm>
          <a:prstGeom prst="roundRect">
            <a:avLst/>
          </a:prstGeom>
          <a:solidFill>
            <a:srgbClr val="1B263B"/>
          </a:solidFill>
          <a:ln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E676"/>
                </a:solidFill>
                <a:latin typeface="Arial"/>
              </a:defRPr>
            </a:pPr>
            <a:r>
              <a:t>Core Schema Definitions</a:t>
            </a:r>
          </a:p>
          <a:p>
            <a:pPr>
              <a:spcBef>
                <a:spcPts val="1000"/>
              </a:spcBef>
              <a:defRPr sz="1200">
                <a:solidFill>
                  <a:srgbClr val="F0F5FF"/>
                </a:solidFill>
                <a:latin typeface="Arial"/>
              </a:defRPr>
            </a:pPr>
            <a:r>
              <a:t>👤 User Schema: email, password, role ('student'/'recruiter'), profile details, completedRoadmaps, resumes.</a:t>
            </a:r>
          </a:p>
          <a:p>
            <a:pPr>
              <a:spcBef>
                <a:spcPts val="1000"/>
              </a:spcBef>
              <a:defRPr sz="1200">
                <a:solidFill>
                  <a:srgbClr val="F0F5FF"/>
                </a:solidFill>
                <a:latin typeface="Arial"/>
              </a:defRPr>
            </a:pPr>
            <a:r>
              <a:t>📄 Resume Schema: userId, textContent, parsedSkills, scoreATS, generatedPortfolioLink.</a:t>
            </a:r>
          </a:p>
          <a:p>
            <a:pPr>
              <a:spcBef>
                <a:spcPts val="1000"/>
              </a:spcBef>
              <a:defRPr sz="1200">
                <a:solidFill>
                  <a:srgbClr val="F0F5FF"/>
                </a:solidFill>
                <a:latin typeface="Arial"/>
              </a:defRPr>
            </a:pPr>
            <a:r>
              <a:t>🗺️ Roadmap Schema: domainName, level, steps: [{ title, url, desc, completed }].</a:t>
            </a:r>
          </a:p>
          <a:p>
            <a:pPr>
              <a:spcBef>
                <a:spcPts val="1000"/>
              </a:spcBef>
              <a:defRPr sz="1200">
                <a:solidFill>
                  <a:srgbClr val="F0F5FF"/>
                </a:solidFill>
                <a:latin typeface="Arial"/>
              </a:defRPr>
            </a:pPr>
            <a:r>
              <a:t>🎤 MockInterview Schema: userId, topic, score, questionsAnswered: [{ q, a, score, feedback }].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5212080" cy="4206240"/>
          </a:xfrm>
          <a:prstGeom prst="roundRect">
            <a:avLst/>
          </a:prstGeom>
          <a:solidFill>
            <a:srgbClr val="1B263B"/>
          </a:solidFill>
          <a:ln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828800"/>
            <a:ext cx="48463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E676"/>
                </a:solidFill>
                <a:latin typeface="Arial"/>
              </a:defRPr>
            </a:pPr>
            <a:r>
              <a:t>Data Flow &amp; Integration Flow</a:t>
            </a:r>
          </a:p>
          <a:p>
            <a:pPr>
              <a:spcBef>
                <a:spcPts val="1000"/>
              </a:spcBef>
              <a:defRPr sz="1300">
                <a:solidFill>
                  <a:srgbClr val="F0F5FF"/>
                </a:solidFill>
                <a:latin typeface="Arial"/>
              </a:defRPr>
            </a:pPr>
            <a:r>
              <a:t>1. Candidate profiles are completed -&gt; Stored in MongoDB.</a:t>
            </a:r>
          </a:p>
          <a:p>
            <a:pPr>
              <a:spcBef>
                <a:spcPts val="1000"/>
              </a:spcBef>
              <a:defRPr sz="1300">
                <a:solidFill>
                  <a:srgbClr val="F0F5FF"/>
                </a:solidFill>
                <a:latin typeface="Arial"/>
              </a:defRPr>
            </a:pPr>
            <a:r>
              <a:t>2. Resume uploaded -&gt; Sent to Backend -&gt; Parsed using Mongoose &amp; Gemini AI API -&gt; Returns ATS grade + details.</a:t>
            </a:r>
          </a:p>
          <a:p>
            <a:pPr>
              <a:spcBef>
                <a:spcPts val="1000"/>
              </a:spcBef>
              <a:defRPr sz="1300">
                <a:solidFill>
                  <a:srgbClr val="F0F5FF"/>
                </a:solidFill>
                <a:latin typeface="Arial"/>
              </a:defRPr>
            </a:pPr>
            <a:r>
              <a:t>3. Recruiter searches candidates -&gt; Backend queries DB matching specific skills -&gt; Displays matched dossier.</a:t>
            </a:r>
          </a:p>
          <a:p>
            <a:pPr>
              <a:spcBef>
                <a:spcPts val="1000"/>
              </a:spcBef>
              <a:defRPr sz="1300">
                <a:solidFill>
                  <a:srgbClr val="F0F5FF"/>
                </a:solidFill>
                <a:latin typeface="Arial"/>
              </a:defRPr>
            </a:pPr>
            <a:r>
              <a:t>4. Interview completed -&gt; AI assesses speech text -&gt; Grades, saves to DB -&gt; Instantly visible on dashboard.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0E676"/>
                </a:solidFill>
                <a:latin typeface="Trebuchet MS"/>
              </a:defRPr>
            </a:pPr>
            <a:r>
              <a:t>Project Highlights &amp; Impact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34440"/>
            <a:ext cx="2743200" cy="36576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B4BED2"/>
                </a:solidFill>
                <a:latin typeface="Arial"/>
              </a:defRPr>
            </a:pPr>
            <a:r>
              <a:t>AI-Powered Career Path Recommendation (CareerCraft) | BE-CSE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45920"/>
            <a:ext cx="1081735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0E676"/>
                </a:solidFill>
                <a:latin typeface="Arial"/>
              </a:defRPr>
            </a:pPr>
            <a:r>
              <a:t>Key System Achievements</a:t>
            </a:r>
          </a:p>
          <a:p>
            <a:pPr>
              <a:spcBef>
                <a:spcPts val="1400"/>
              </a:spcBef>
              <a:defRPr sz="1500">
                <a:solidFill>
                  <a:srgbClr val="F0F5FF"/>
                </a:solidFill>
                <a:latin typeface="Arial"/>
              </a:defRPr>
            </a:pPr>
            <a:r>
              <a:t>⭐ Real-world Ready: Resolves student career confusion using dynamic AI assessments.</a:t>
            </a:r>
          </a:p>
          <a:p>
            <a:pPr>
              <a:spcBef>
                <a:spcPts val="1400"/>
              </a:spcBef>
              <a:defRPr sz="1500">
                <a:solidFill>
                  <a:srgbClr val="F0F5FF"/>
                </a:solidFill>
                <a:latin typeface="Arial"/>
              </a:defRPr>
            </a:pPr>
            <a:r>
              <a:t>⚡ Automated Workflows: Complete portfolio generation within 2 seconds of profile upload.</a:t>
            </a:r>
          </a:p>
          <a:p>
            <a:pPr>
              <a:spcBef>
                <a:spcPts val="1400"/>
              </a:spcBef>
              <a:defRPr sz="1500">
                <a:solidFill>
                  <a:srgbClr val="F0F5FF"/>
                </a:solidFill>
                <a:latin typeface="Arial"/>
              </a:defRPr>
            </a:pPr>
            <a:r>
              <a:t>📈 Recruiter-Focused: Complete B2B Recruitment module bridging the gap between student portfolios and recruiters.</a:t>
            </a:r>
          </a:p>
          <a:p>
            <a:pPr>
              <a:spcBef>
                <a:spcPts val="1400"/>
              </a:spcBef>
              <a:defRPr sz="1500">
                <a:solidFill>
                  <a:srgbClr val="F0F5FF"/>
                </a:solidFill>
                <a:latin typeface="Arial"/>
              </a:defRPr>
            </a:pPr>
            <a:r>
              <a:t>🔒 Secure &amp; Scalable: Built using best practice patterns like JWT authentication and MongoDB cloud clusters.</a:t>
            </a:r>
          </a:p>
          <a:p>
            <a:pPr>
              <a:spcBef>
                <a:spcPts val="1400"/>
              </a:spcBef>
              <a:defRPr sz="1500">
                <a:solidFill>
                  <a:srgbClr val="F0F5FF"/>
                </a:solidFill>
                <a:latin typeface="Arial"/>
              </a:defRPr>
            </a:pPr>
            <a:r>
              <a:t>🌐 Modern UI Experience: Visually stunning dark mode layout based on modern glassmorphic design principles.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17352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600" b="1">
                <a:solidFill>
                  <a:srgbClr val="00E676"/>
                </a:solidFill>
                <a:latin typeface="Trebuchet MS"/>
              </a:defRPr>
            </a:pPr>
            <a:r>
              <a:t>Conclusion &amp; Future Enhancements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234440"/>
            <a:ext cx="2743200" cy="36576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400800"/>
            <a:ext cx="108173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B4BED2"/>
                </a:solidFill>
                <a:latin typeface="Arial"/>
              </a:defRPr>
            </a:pPr>
            <a:r>
              <a:t>AI-Powered Career Path Recommendation (CareerCraft) | BE-CSE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459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0E676"/>
                </a:solidFill>
                <a:latin typeface="Arial"/>
              </a:defRPr>
            </a:pPr>
            <a:r>
              <a:t>Conclusion</a:t>
            </a:r>
          </a:p>
          <a:p>
            <a:pPr>
              <a:spcBef>
                <a:spcPts val="1200"/>
              </a:spcBef>
              <a:defRPr sz="1500">
                <a:solidFill>
                  <a:srgbClr val="F0F5FF"/>
                </a:solidFill>
                <a:latin typeface="Arial"/>
              </a:defRPr>
            </a:pPr>
            <a:r>
              <a:t>✔ CareerCraft bridges the gap between educational preparation and industrial recruitment.</a:t>
            </a:r>
          </a:p>
          <a:p>
            <a:pPr>
              <a:spcBef>
                <a:spcPts val="1200"/>
              </a:spcBef>
              <a:defRPr sz="1500">
                <a:solidFill>
                  <a:srgbClr val="F0F5FF"/>
                </a:solidFill>
                <a:latin typeface="Arial"/>
              </a:defRPr>
            </a:pPr>
            <a:r>
              <a:t>✔ AI Career Assessment provides precise, individualized direction for students.</a:t>
            </a:r>
          </a:p>
          <a:p>
            <a:pPr>
              <a:spcBef>
                <a:spcPts val="1200"/>
              </a:spcBef>
              <a:defRPr sz="1500">
                <a:solidFill>
                  <a:srgbClr val="F0F5FF"/>
                </a:solidFill>
                <a:latin typeface="Arial"/>
              </a:defRPr>
            </a:pPr>
            <a:r>
              <a:t>✔ The B2B Portal provides hiring managers with a highly simplified candidate screening funnel.</a:t>
            </a:r>
          </a:p>
          <a:p>
            <a:pPr>
              <a:spcBef>
                <a:spcPts val="1200"/>
              </a:spcBef>
              <a:defRPr sz="1500">
                <a:solidFill>
                  <a:srgbClr val="F0F5FF"/>
                </a:solidFill>
                <a:latin typeface="Arial"/>
              </a:defRPr>
            </a:pPr>
            <a:r>
              <a:t>✔ Improves student hiring opportunities by showcasing verified milestone accomplishments.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645920"/>
            <a:ext cx="51206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0E676"/>
                </a:solidFill>
                <a:latin typeface="Arial"/>
              </a:defRPr>
            </a:pPr>
            <a:r>
              <a:t>Future Enhancements</a:t>
            </a:r>
          </a:p>
          <a:p>
            <a:pPr>
              <a:spcBef>
                <a:spcPts val="1200"/>
              </a:spcBef>
              <a:defRPr sz="1500">
                <a:solidFill>
                  <a:srgbClr val="F0F5FF"/>
                </a:solidFill>
                <a:latin typeface="Arial"/>
              </a:defRPr>
            </a:pPr>
            <a:r>
              <a:t>🚀 Integrate live coding environment assessment for candidates.</a:t>
            </a:r>
          </a:p>
          <a:p>
            <a:pPr>
              <a:spcBef>
                <a:spcPts val="1200"/>
              </a:spcBef>
              <a:defRPr sz="1500">
                <a:solidFill>
                  <a:srgbClr val="F0F5FF"/>
                </a:solidFill>
                <a:latin typeface="Arial"/>
              </a:defRPr>
            </a:pPr>
            <a:r>
              <a:t>🚀 Add automated voice/video facial expression analysis for mock interviews.</a:t>
            </a:r>
          </a:p>
          <a:p>
            <a:pPr>
              <a:spcBef>
                <a:spcPts val="1200"/>
              </a:spcBef>
              <a:defRPr sz="1500">
                <a:solidFill>
                  <a:srgbClr val="F0F5FF"/>
                </a:solidFill>
                <a:latin typeface="Arial"/>
              </a:defRPr>
            </a:pPr>
            <a:r>
              <a:t>🚀 Introduce Multi-Language natural voice guidance chatbots.</a:t>
            </a:r>
          </a:p>
          <a:p>
            <a:pPr>
              <a:spcBef>
                <a:spcPts val="1200"/>
              </a:spcBef>
              <a:defRPr sz="1500">
                <a:solidFill>
                  <a:srgbClr val="F0F5FF"/>
                </a:solidFill>
                <a:latin typeface="Arial"/>
              </a:defRPr>
            </a:pPr>
            <a:r>
              <a:t>🚀 Add enterprise blockchain ledger to verify student certificates and project authenticity.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9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371600"/>
            <a:ext cx="9445752" cy="4114800"/>
          </a:xfrm>
          <a:prstGeom prst="roundRect">
            <a:avLst/>
          </a:prstGeom>
          <a:solidFill>
            <a:srgbClr val="1B263B"/>
          </a:solidFill>
          <a:ln w="2540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1828800"/>
            <a:ext cx="853135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00E676"/>
                </a:solidFill>
                <a:latin typeface="Trebuchet MS"/>
              </a:defRPr>
            </a:pPr>
            <a:r>
              <a:t>THANK YOU</a:t>
            </a:r>
          </a:p>
          <a:p>
            <a:pPr algn="ctr">
              <a:spcBef>
                <a:spcPts val="1500"/>
              </a:spcBef>
              <a:defRPr sz="2000">
                <a:solidFill>
                  <a:srgbClr val="F0F5FF"/>
                </a:solidFill>
                <a:latin typeface="Arial"/>
              </a:defRPr>
            </a:pPr>
            <a:r>
              <a:t>Questions &amp; Answers Session</a:t>
            </a:r>
          </a:p>
          <a:p>
            <a:br/>
            <a:pPr algn="ctr">
              <a:spcBef>
                <a:spcPts val="1500"/>
              </a:spcBef>
              <a:defRPr sz="1600">
                <a:solidFill>
                  <a:srgbClr val="B4BED2"/>
                </a:solidFill>
                <a:latin typeface="Arial"/>
              </a:defRPr>
            </a:pPr>
            <a:r>
              <a:t>Presented By: HARISHGANTH.L (720823103057)</a:t>
            </a:r>
            <a:br/>
            <a:r>
              <a:t>HINDUSTAN INSTITUTE OF TECHNOLOGY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